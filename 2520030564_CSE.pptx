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7"/>
  </p:notesMasterIdLst>
  <p:handoutMasterIdLst>
    <p:handoutMasterId r:id="rId18"/>
  </p:handoutMasterIdLst>
  <p:sldIdLst>
    <p:sldId id="314" r:id="rId3"/>
    <p:sldId id="322" r:id="rId4"/>
    <p:sldId id="323" r:id="rId5"/>
    <p:sldId id="266" r:id="rId6"/>
    <p:sldId id="341" r:id="rId7"/>
    <p:sldId id="342" r:id="rId8"/>
    <p:sldId id="343" r:id="rId9"/>
    <p:sldId id="344" r:id="rId10"/>
    <p:sldId id="345" r:id="rId11"/>
    <p:sldId id="346" r:id="rId12"/>
    <p:sldId id="340" r:id="rId13"/>
    <p:sldId id="347" r:id="rId14"/>
    <p:sldId id="348" r:id="rId15"/>
    <p:sldId id="33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BCDB23-F71F-45AC-95C4-53EA35851854}" v="25" dt="2026-03-04T03:42:43.0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582"/>
    <p:restoredTop sz="95833"/>
  </p:normalViewPr>
  <p:slideViewPr>
    <p:cSldViewPr snapToGrid="0" snapToObjects="1">
      <p:cViewPr varScale="1">
        <p:scale>
          <a:sx n="86" d="100"/>
          <a:sy n="86" d="100"/>
        </p:scale>
        <p:origin x="350" y="67"/>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3/10/2026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3BF734CB-DFAB-944A-8037-9643745D8F20}" type="datetime1">
              <a:rPr lang="en-IN" smtClean="0"/>
              <a:t>10-03-2026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10-03-2026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15BD6649-7156-A341-B9F2-F045B7551E13}" type="datetime1">
              <a:rPr lang="en-IN" smtClean="0"/>
              <a:t>10-03-2026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C9977CD1-E97C-BA41-8E49-9F39B98FFBE8}" type="datetime1">
              <a:rPr lang="en-IN" smtClean="0"/>
              <a:t>10-03-2026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F3DDBCA1-9406-7A44-8A76-1046B4040777}" type="datetime1">
              <a:rPr lang="en-IN" smtClean="0"/>
              <a:t>10-03-2026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C7FB085D-B69B-9C45-93A5-77F47F2F6792}" type="datetime1">
              <a:rPr lang="en-IN" smtClean="0"/>
              <a:t>10-03-2026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C61B69B7-E8EF-6346-9390-671C5B22ACF3}" type="datetime1">
              <a:rPr lang="en-IN" smtClean="0"/>
              <a:t>10-03-2026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B920709D-BF3C-5743-B60D-B01C16014A7B}" type="datetime1">
              <a:rPr lang="en-IN" smtClean="0"/>
              <a:t>10-03-2026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B04444B0-6575-954F-AAA2-CB0D0417F745}" type="datetime1">
              <a:rPr lang="en-IN" smtClean="0"/>
              <a:t>10-03-2026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6DE7A436-9AA5-6C4B-AFF1-C34F60A9AB89}" type="datetime1">
              <a:rPr lang="en-IN" smtClean="0"/>
              <a:t>10-03-2026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10-03-2026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10-03-2026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10-03-2026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10-03-2026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10-03-2026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10-03-2026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10-03-2026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7" Type="http://schemas.openxmlformats.org/officeDocument/2006/relationships/image" Target="../media/image8.JPG"/><Relationship Id="rId2" Type="http://schemas.openxmlformats.org/officeDocument/2006/relationships/image" Target="../media/image3.JPG"/><Relationship Id="rId1" Type="http://schemas.openxmlformats.org/officeDocument/2006/relationships/slideLayout" Target="../slideLayouts/slideLayout2.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400" dirty="0">
                <a:solidFill>
                  <a:srgbClr val="0070C0"/>
                </a:solidFill>
                <a:latin typeface="+mn-lt"/>
                <a:cs typeface="Arial" panose="020B0604020202020204" pitchFamily="34" charset="0"/>
              </a:rPr>
              <a:t>Title : DIGITAL MEDICAL RECORD STORAGE SYSTEM</a:t>
            </a:r>
            <a:endParaRPr lang="en-US" sz="2400" dirty="0">
              <a:solidFill>
                <a:srgbClr val="FF0000"/>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t>Student Name: Komma Kavyasri</a:t>
            </a:r>
          </a:p>
          <a:p>
            <a:pPr marL="0" indent="0" algn="ctr">
              <a:buNone/>
            </a:pPr>
            <a:r>
              <a:rPr lang="en-US" sz="9600" dirty="0"/>
              <a:t>Student ID: 2520030564</a:t>
            </a:r>
            <a:endParaRPr lang="en-US" sz="2400" dirty="0"/>
          </a:p>
          <a:p>
            <a:pPr marL="0" indent="0" algn="ctr">
              <a:buNone/>
            </a:pPr>
            <a:r>
              <a:rPr lang="en-US" sz="11200" dirty="0"/>
              <a:t>Cluster: 4</a:t>
            </a:r>
          </a:p>
          <a:p>
            <a:pPr marL="0" indent="0" algn="ctr">
              <a:buNone/>
            </a:pPr>
            <a:r>
              <a:rPr lang="en-US" sz="11200" dirty="0"/>
              <a:t>Section: 14</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10-03-2026</a:t>
            </a:fld>
            <a:endParaRPr lang="en-US"/>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511634" y="5136682"/>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Name: </a:t>
            </a:r>
            <a:r>
              <a:rPr lang="en-US" sz="8600" dirty="0" err="1">
                <a:solidFill>
                  <a:srgbClr val="00B050"/>
                </a:solidFill>
              </a:rPr>
              <a:t>xxxxxxxx</a:t>
            </a:r>
            <a:endParaRPr lang="en-US" sz="8600" dirty="0">
              <a:solidFill>
                <a:srgbClr val="00B050"/>
              </a:solidFill>
            </a:endParaRPr>
          </a:p>
          <a:p>
            <a:pPr marL="0" indent="0" algn="ctr">
              <a:buNone/>
            </a:pPr>
            <a:r>
              <a:rPr lang="en-US" sz="8600" dirty="0">
                <a:solidFill>
                  <a:srgbClr val="00B050"/>
                </a:solidFill>
              </a:rPr>
              <a:t>Assistant Professor</a:t>
            </a:r>
          </a:p>
          <a:p>
            <a:pPr marL="0" indent="0" algn="ctr">
              <a:buNone/>
            </a:pPr>
            <a:r>
              <a:rPr lang="en-US" sz="8600" dirty="0">
                <a:solidFill>
                  <a:srgbClr val="00B050"/>
                </a:solidFill>
              </a:rPr>
              <a:t>Department of CSE</a:t>
            </a:r>
          </a:p>
          <a:p>
            <a:pPr marL="0" indent="0">
              <a:buFont typeface="Arial" panose="020B0604020202020204" pitchFamily="34" charset="0"/>
              <a:buNone/>
            </a:pPr>
            <a:endParaRPr lang="en-US" sz="2400" dirty="0">
              <a:solidFill>
                <a:srgbClr val="00B050"/>
              </a:solidFill>
            </a:endParaRPr>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1017016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62500" lnSpcReduction="20000"/>
          </a:bodyPr>
          <a:lstStyle/>
          <a:p>
            <a:pPr marL="514350" indent="-514350">
              <a:buFont typeface="+mj-lt"/>
              <a:buAutoNum type="arabicPeriod"/>
            </a:pPr>
            <a:r>
              <a:rPr lang="en-IN" dirty="0"/>
              <a:t>Abstract</a:t>
            </a:r>
          </a:p>
          <a:p>
            <a:pPr marL="514350" indent="-514350">
              <a:buFont typeface="+mj-lt"/>
              <a:buAutoNum type="arabicPeriod"/>
            </a:pPr>
            <a:r>
              <a:rPr lang="en-IN" dirty="0"/>
              <a:t>Existing System </a:t>
            </a:r>
          </a:p>
          <a:p>
            <a:pPr marL="514350" indent="-514350">
              <a:buFont typeface="+mj-lt"/>
              <a:buAutoNum type="arabicPeriod"/>
            </a:pPr>
            <a:r>
              <a:rPr lang="en-IN" dirty="0"/>
              <a:t>Proposed System</a:t>
            </a:r>
          </a:p>
          <a:p>
            <a:pPr marL="514350" indent="-514350">
              <a:buFont typeface="+mj-lt"/>
              <a:buAutoNum type="arabicPeriod"/>
            </a:pPr>
            <a:r>
              <a:rPr lang="en-IN" dirty="0"/>
              <a:t>System Architecture</a:t>
            </a:r>
          </a:p>
          <a:p>
            <a:pPr marL="514350" indent="-514350">
              <a:buFont typeface="+mj-lt"/>
              <a:buAutoNum type="arabicPeriod"/>
            </a:pPr>
            <a:r>
              <a:rPr lang="en-IN" dirty="0"/>
              <a:t>Project Modules</a:t>
            </a:r>
          </a:p>
          <a:p>
            <a:pPr marL="514350" indent="-514350">
              <a:buFont typeface="+mj-lt"/>
              <a:buAutoNum type="arabicPeriod"/>
            </a:pPr>
            <a:r>
              <a:rPr lang="en-IN" dirty="0"/>
              <a:t>Objectives </a:t>
            </a:r>
          </a:p>
          <a:p>
            <a:pPr marL="514350" indent="-514350">
              <a:buFont typeface="+mj-lt"/>
              <a:buAutoNum type="arabicPeriod"/>
            </a:pPr>
            <a:r>
              <a:rPr lang="en-IN" dirty="0"/>
              <a:t>Co’s Attainments - FWD</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Co’s Attainments - DSA</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Screen Shots for FWD &amp; DSA</a:t>
            </a:r>
          </a:p>
          <a:p>
            <a:pPr marL="514350" indent="-514350">
              <a:buFont typeface="+mj-lt"/>
              <a:buAutoNum type="arabicPeriod"/>
            </a:pPr>
            <a:r>
              <a:rPr lang="en-IN" dirty="0"/>
              <a:t>Conclusion</a:t>
            </a:r>
          </a:p>
          <a:p>
            <a:pPr marL="514350" indent="-514350">
              <a:buFont typeface="+mj-lt"/>
              <a:buAutoNum type="arabicPeriod"/>
            </a:pPr>
            <a:r>
              <a:rPr lang="en-IN" dirty="0"/>
              <a:t>Geo-Tagged Photos</a:t>
            </a:r>
          </a:p>
          <a:p>
            <a:pPr marL="514350" indent="-514350">
              <a:buFont typeface="+mj-lt"/>
              <a:buAutoNum type="arabicPeriod"/>
            </a:pPr>
            <a:endParaRPr lang="en-IN" dirty="0"/>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5D381120-93CB-BF4D-9125-DC4781C9106A}"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326239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Abstract</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3" name="Rectangle 2">
            <a:extLst>
              <a:ext uri="{FF2B5EF4-FFF2-40B4-BE49-F238E27FC236}">
                <a16:creationId xmlns:a16="http://schemas.microsoft.com/office/drawing/2014/main" id="{F37F5132-1EAC-9D4F-73E1-4195BF54F9EE}"/>
              </a:ext>
            </a:extLst>
          </p:cNvPr>
          <p:cNvSpPr>
            <a:spLocks noChangeArrowheads="1"/>
          </p:cNvSpPr>
          <p:nvPr/>
        </p:nvSpPr>
        <p:spPr bwMode="auto">
          <a:xfrm>
            <a:off x="204187" y="1296395"/>
            <a:ext cx="1135454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Digital Medical Record Storage System (DMRS) is a web-based application designed to manage and store patient medical records in a digital format. </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healthcare systems often rely on paper-based records, which are difficult to maintain, access, and organize. This system provides a simple platform where doctors can add patient details, upload medical documents such as lab reports, prescriptions, and diagnostic files, and manage records efficiently.</a:t>
            </a:r>
            <a:endParaRPr lang="en-US" altLang="en-US" sz="2400" dirty="0">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application also allows patients to access their medical records easily, improving communication between doctors and patients.</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includes features such as patient management, file uploading and downloading, a dashboard for viewing system statistics, and activity logs to track system actions. </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Developed using HTML, CSS, and JavaScript, the system provides a user-friendly interface for storing and accessing healthcare data digitally. </a:t>
            </a:r>
          </a:p>
        </p:txBody>
      </p:sp>
    </p:spTree>
    <p:extLst>
      <p:ext uri="{BB962C8B-B14F-4D97-AF65-F5344CB8AC3E}">
        <p14:creationId xmlns:p14="http://schemas.microsoft.com/office/powerpoint/2010/main" val="2715783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Existing System </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2" name="Content Placeholder 1">
            <a:extLst>
              <a:ext uri="{FF2B5EF4-FFF2-40B4-BE49-F238E27FC236}">
                <a16:creationId xmlns:a16="http://schemas.microsoft.com/office/drawing/2014/main" id="{D350B11B-9135-0661-47D8-00ED892A21CC}"/>
              </a:ext>
            </a:extLst>
          </p:cNvPr>
          <p:cNvSpPr>
            <a:spLocks noGrp="1" noChangeArrowheads="1"/>
          </p:cNvSpPr>
          <p:nvPr>
            <p:ph idx="1"/>
          </p:nvPr>
        </p:nvSpPr>
        <p:spPr bwMode="auto">
          <a:xfrm>
            <a:off x="838200" y="1855049"/>
            <a:ext cx="10515599"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Patient medical records are mainly stored in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paper-based files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Hospitals maintain records in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physical folders and documents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Searching for patient information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takes a lot of time</a:t>
            </a:r>
            <a:r>
              <a:rPr lang="en-US" altLang="en-US" sz="2400" dirty="0">
                <a:latin typeface="Times New Roman" panose="02020603050405020304" pitchFamily="18" charset="0"/>
                <a:cs typeface="Times New Roman" panose="02020603050405020304" pitchFamily="18" charset="0"/>
              </a:rPr>
              <a: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 is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risk of file loss, damage, or misplacement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Records are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not easily accessible by patients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when needed.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Sharing medical reports between doctors and hospitals is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difficult and slow</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Managing large volumes of patient data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requires significant physical  storage space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record management can lead to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human errors and data duplication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930833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180618" y="365125"/>
            <a:ext cx="10173182" cy="1128009"/>
          </a:xfrm>
        </p:spPr>
        <p:txBody>
          <a:bodyPr/>
          <a:lstStyle/>
          <a:p>
            <a:pPr algn="ctr"/>
            <a:r>
              <a:rPr lang="en-US" b="1" dirty="0"/>
              <a:t>Proposed System</a:t>
            </a:r>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2" name="Content Placeholder 1">
            <a:extLst>
              <a:ext uri="{FF2B5EF4-FFF2-40B4-BE49-F238E27FC236}">
                <a16:creationId xmlns:a16="http://schemas.microsoft.com/office/drawing/2014/main" id="{CFEC2B69-1572-6D2A-3B45-B15A2E99665B}"/>
              </a:ext>
            </a:extLst>
          </p:cNvPr>
          <p:cNvSpPr>
            <a:spLocks noGrp="1" noChangeArrowheads="1"/>
          </p:cNvSpPr>
          <p:nvPr>
            <p:ph idx="1"/>
          </p:nvPr>
        </p:nvSpPr>
        <p:spPr bwMode="auto">
          <a:xfrm>
            <a:off x="1297563" y="1270363"/>
            <a:ext cx="9939292"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Digital Medical Record Storage System (DMRS)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store patient records digitally.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doctors to add, manage, and delete patient details easily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uploading and downloading of medical files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such as lab reports, prescriptions, and X-rays.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login access for doctors and patients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dashboard to display important statistics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like total patients and total files.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Maintain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activity logs to track system operations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such as uploads and patient updates.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patients to access their medical records anytime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 paperwork and improve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efficiency, accessibility, and record management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205484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1180618" y="365125"/>
            <a:ext cx="10173182" cy="1128009"/>
          </a:xfrm>
        </p:spPr>
        <p:txBody>
          <a:bodyPr/>
          <a:lstStyle/>
          <a:p>
            <a:pPr algn="ctr"/>
            <a:r>
              <a:rPr lang="en-US" b="1" dirty="0"/>
              <a:t>System Architecture</a:t>
            </a:r>
          </a:p>
        </p:txBody>
      </p:sp>
      <p:pic>
        <p:nvPicPr>
          <p:cNvPr id="3" name="Content Placeholder 2">
            <a:extLst>
              <a:ext uri="{FF2B5EF4-FFF2-40B4-BE49-F238E27FC236}">
                <a16:creationId xmlns:a16="http://schemas.microsoft.com/office/drawing/2014/main" id="{8735CAB0-1875-E13B-1E64-AD4FDC6F93DA}"/>
              </a:ext>
            </a:extLst>
          </p:cNvPr>
          <p:cNvPicPr>
            <a:picLocks noGrp="1" noChangeAspect="1"/>
          </p:cNvPicPr>
          <p:nvPr>
            <p:ph idx="1"/>
          </p:nvPr>
        </p:nvPicPr>
        <p:blipFill>
          <a:blip r:embed="rId2"/>
          <a:stretch>
            <a:fillRect/>
          </a:stretch>
        </p:blipFill>
        <p:spPr>
          <a:xfrm>
            <a:off x="4396978" y="1622832"/>
            <a:ext cx="3246695" cy="4870043"/>
          </a:xfrm>
        </p:spPr>
      </p:pic>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6</a:t>
            </a:fld>
            <a:endParaRPr lang="en-US"/>
          </a:p>
        </p:txBody>
      </p:sp>
    </p:spTree>
    <p:extLst>
      <p:ext uri="{BB962C8B-B14F-4D97-AF65-F5344CB8AC3E}">
        <p14:creationId xmlns:p14="http://schemas.microsoft.com/office/powerpoint/2010/main" val="3489011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1180618" y="365125"/>
            <a:ext cx="10173182" cy="1128009"/>
          </a:xfrm>
        </p:spPr>
        <p:txBody>
          <a:bodyPr/>
          <a:lstStyle/>
          <a:p>
            <a:pPr algn="ctr"/>
            <a:r>
              <a:rPr lang="en-US" b="1" dirty="0"/>
              <a:t>Project Modules</a:t>
            </a:r>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2" name="Content Placeholder 1">
            <a:extLst>
              <a:ext uri="{FF2B5EF4-FFF2-40B4-BE49-F238E27FC236}">
                <a16:creationId xmlns:a16="http://schemas.microsoft.com/office/drawing/2014/main" id="{A18C34AC-590D-0FB2-950F-273BBC43C938}"/>
              </a:ext>
            </a:extLst>
          </p:cNvPr>
          <p:cNvSpPr>
            <a:spLocks noGrp="1" noChangeArrowheads="1"/>
          </p:cNvSpPr>
          <p:nvPr>
            <p:ph idx="1"/>
          </p:nvPr>
        </p:nvSpPr>
        <p:spPr bwMode="auto">
          <a:xfrm>
            <a:off x="272249" y="1337220"/>
            <a:ext cx="11647502"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Authentication Module</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Handles login and logout for doctors and patients with username and password verification.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Patient Management Module</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Allows doctors to add, view, and delete patient details such as name, age, and medical notes.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Medical File Management Module</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Enables doctors and patients to upload, view, and download medical files like lab reports, prescriptions, and X-rays.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Dashboard Module</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Displays important information such as total patients, total uploaded files, and recent uploads.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Activity Log Module</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Tracks all system activities such as patient creation, file uploads, and record updates.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Storage Module</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Stores patient records, uploaded files, and logs using browser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Local Storage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72965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1180618" y="365125"/>
            <a:ext cx="10173182" cy="1128009"/>
          </a:xfrm>
        </p:spPr>
        <p:txBody>
          <a:bodyPr/>
          <a:lstStyle/>
          <a:p>
            <a:pPr algn="ctr"/>
            <a:r>
              <a:rPr lang="en-US" b="1" dirty="0"/>
              <a:t>Objectives</a:t>
            </a:r>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2" name="Content Placeholder 1">
            <a:extLst>
              <a:ext uri="{FF2B5EF4-FFF2-40B4-BE49-F238E27FC236}">
                <a16:creationId xmlns:a16="http://schemas.microsoft.com/office/drawing/2014/main" id="{8F9F1719-F41D-B097-BF42-AD41676AF03A}"/>
              </a:ext>
            </a:extLst>
          </p:cNvPr>
          <p:cNvSpPr>
            <a:spLocks noGrp="1" noChangeArrowheads="1"/>
          </p:cNvSpPr>
          <p:nvPr>
            <p:ph idx="1"/>
          </p:nvPr>
        </p:nvSpPr>
        <p:spPr bwMode="auto">
          <a:xfrm>
            <a:off x="230819" y="2136683"/>
            <a:ext cx="11961181"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Digital Medical Record Storage System</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storing patient medical data digitally.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provide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access for doctors and patients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through a login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allow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easy uploading and management of medical files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such as prescriptions , lab</a:t>
            </a:r>
            <a:r>
              <a:rPr lang="en-US" altLang="en-US" sz="2400" dirty="0">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reports, and X-rays.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enable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doctors to manage patient information efficiently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maintain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activity logs for tracking system operations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reduce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paper-based record keeping in hospitals and clinics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improve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accessibility, organization, and security of medical records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2639859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9560-5402-A083-5191-CC2F23364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3A50108-EF3B-F9BF-CB25-7C4C67A41AAC}"/>
              </a:ext>
            </a:extLst>
          </p:cNvPr>
          <p:cNvSpPr>
            <a:spLocks noGrp="1"/>
          </p:cNvSpPr>
          <p:nvPr>
            <p:ph type="title"/>
          </p:nvPr>
        </p:nvSpPr>
        <p:spPr>
          <a:xfrm>
            <a:off x="1180618" y="365125"/>
            <a:ext cx="10173182" cy="1128009"/>
          </a:xfrm>
        </p:spPr>
        <p:txBody>
          <a:bodyPr/>
          <a:lstStyle/>
          <a:p>
            <a:pPr algn="ctr"/>
            <a:r>
              <a:rPr lang="en-US" b="1" dirty="0"/>
              <a:t>Co’s Attainments - FWD</a:t>
            </a:r>
          </a:p>
        </p:txBody>
      </p:sp>
      <p:sp>
        <p:nvSpPr>
          <p:cNvPr id="5" name="Date Placeholder 4">
            <a:extLst>
              <a:ext uri="{FF2B5EF4-FFF2-40B4-BE49-F238E27FC236}">
                <a16:creationId xmlns:a16="http://schemas.microsoft.com/office/drawing/2014/main" id="{49D0E4ED-DE37-6D8E-7EB1-1F0F05E37DA3}"/>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803C038D-A939-9973-E752-364BB70EE05C}"/>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a:extLst>
              <a:ext uri="{FF2B5EF4-FFF2-40B4-BE49-F238E27FC236}">
                <a16:creationId xmlns:a16="http://schemas.microsoft.com/office/drawing/2014/main" id="{46D1AB01-D059-FC05-DDE0-A88B6A09A4A2}"/>
              </a:ext>
            </a:extLst>
          </p:cNvPr>
          <p:cNvSpPr>
            <a:spLocks noGrp="1"/>
          </p:cNvSpPr>
          <p:nvPr>
            <p:ph idx="1"/>
          </p:nvPr>
        </p:nvSpPr>
        <p:spPr/>
        <p:txBody>
          <a:bodyPr>
            <a:normAutofit fontScale="85000" lnSpcReduction="20000"/>
          </a:bodyPr>
          <a:lstStyle/>
          <a:p>
            <a:r>
              <a:rPr lang="en-US" b="1" dirty="0">
                <a:latin typeface="Times New Roman" panose="02020603050405020304" pitchFamily="18" charset="0"/>
                <a:cs typeface="Times New Roman" panose="02020603050405020304" pitchFamily="18" charset="0"/>
              </a:rPr>
              <a:t>CO1:</a:t>
            </a:r>
            <a:r>
              <a:rPr lang="en-US" dirty="0">
                <a:latin typeface="Times New Roman" panose="02020603050405020304" pitchFamily="18" charset="0"/>
                <a:cs typeface="Times New Roman" panose="02020603050405020304" pitchFamily="18" charset="0"/>
              </a:rPr>
              <a:t> HTML structure and basic CSS styling are used to design the layout and interface of the DMRS web pages such as login, dashboard, and patient management.</a:t>
            </a:r>
          </a:p>
          <a:p>
            <a:r>
              <a:rPr lang="en-US" b="1" dirty="0">
                <a:latin typeface="Times New Roman" panose="02020603050405020304" pitchFamily="18" charset="0"/>
                <a:cs typeface="Times New Roman" panose="02020603050405020304" pitchFamily="18" charset="0"/>
              </a:rPr>
              <a:t>CO2:</a:t>
            </a:r>
            <a:r>
              <a:rPr lang="en-US" dirty="0">
                <a:latin typeface="Times New Roman" panose="02020603050405020304" pitchFamily="18" charset="0"/>
                <a:cs typeface="Times New Roman" panose="02020603050405020304" pitchFamily="18" charset="0"/>
              </a:rPr>
              <a:t> HTML forms, input elements, tables, and CSS layouts are used to collect patient information, upload medical files, and organize webpage content.</a:t>
            </a:r>
          </a:p>
          <a:p>
            <a:r>
              <a:rPr lang="en-US" b="1" dirty="0">
                <a:latin typeface="Times New Roman" panose="02020603050405020304" pitchFamily="18" charset="0"/>
                <a:cs typeface="Times New Roman" panose="02020603050405020304" pitchFamily="18" charset="0"/>
              </a:rPr>
              <a:t>CO3:</a:t>
            </a:r>
            <a:r>
              <a:rPr lang="en-US" dirty="0">
                <a:latin typeface="Times New Roman" panose="02020603050405020304" pitchFamily="18" charset="0"/>
                <a:cs typeface="Times New Roman" panose="02020603050405020304" pitchFamily="18" charset="0"/>
              </a:rPr>
              <a:t> JavaScript fundamentals like variables, functions, conditions, loops, arrays, and objects are used to manage patient data and system functionality.</a:t>
            </a:r>
          </a:p>
          <a:p>
            <a:r>
              <a:rPr lang="en-US" b="1" dirty="0">
                <a:latin typeface="Times New Roman" panose="02020603050405020304" pitchFamily="18" charset="0"/>
                <a:cs typeface="Times New Roman" panose="02020603050405020304" pitchFamily="18" charset="0"/>
              </a:rPr>
              <a:t>CO4:</a:t>
            </a:r>
            <a:r>
              <a:rPr lang="en-US" dirty="0">
                <a:latin typeface="Times New Roman" panose="02020603050405020304" pitchFamily="18" charset="0"/>
                <a:cs typeface="Times New Roman" panose="02020603050405020304" pitchFamily="18" charset="0"/>
              </a:rPr>
              <a:t> JavaScript DOM manipulation, event handling, and browser local storage are used to implement interactive features like login authentication, dynamic updates, and activity logs.</a:t>
            </a:r>
          </a:p>
          <a:p>
            <a:r>
              <a:rPr lang="en-US" b="1" dirty="0">
                <a:latin typeface="Times New Roman" panose="02020603050405020304" pitchFamily="18" charset="0"/>
                <a:cs typeface="Times New Roman" panose="02020603050405020304" pitchFamily="18" charset="0"/>
              </a:rPr>
              <a:t>CO5:</a:t>
            </a:r>
            <a:r>
              <a:rPr lang="en-US" dirty="0">
                <a:latin typeface="Times New Roman" panose="02020603050405020304" pitchFamily="18" charset="0"/>
                <a:cs typeface="Times New Roman" panose="02020603050405020304" pitchFamily="18" charset="0"/>
              </a:rPr>
              <a:t> Advanced JavaScript concepts such as form validation and dynamic user input handling are used to process user actions and manage medical records efficiently.</a:t>
            </a:r>
          </a:p>
        </p:txBody>
      </p:sp>
    </p:spTree>
    <p:extLst>
      <p:ext uri="{BB962C8B-B14F-4D97-AF65-F5344CB8AC3E}">
        <p14:creationId xmlns:p14="http://schemas.microsoft.com/office/powerpoint/2010/main" val="1906946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A9CAF-7EB0-0890-1F26-CA3F8236AA1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7E0E9F0-7414-F19D-A367-C4D70D67BCB3}"/>
              </a:ext>
            </a:extLst>
          </p:cNvPr>
          <p:cNvSpPr>
            <a:spLocks noGrp="1"/>
          </p:cNvSpPr>
          <p:nvPr>
            <p:ph type="title"/>
          </p:nvPr>
        </p:nvSpPr>
        <p:spPr>
          <a:xfrm>
            <a:off x="1180618" y="365125"/>
            <a:ext cx="10173182" cy="1128009"/>
          </a:xfrm>
        </p:spPr>
        <p:txBody>
          <a:bodyPr/>
          <a:lstStyle/>
          <a:p>
            <a:pPr algn="ctr"/>
            <a:r>
              <a:rPr lang="en-US" b="1" dirty="0"/>
              <a:t>Co’s Attainments - DSA</a:t>
            </a:r>
          </a:p>
        </p:txBody>
      </p:sp>
      <p:sp>
        <p:nvSpPr>
          <p:cNvPr id="9" name="Content Placeholder 8">
            <a:extLst>
              <a:ext uri="{FF2B5EF4-FFF2-40B4-BE49-F238E27FC236}">
                <a16:creationId xmlns:a16="http://schemas.microsoft.com/office/drawing/2014/main" id="{6726AE93-69A8-DC85-DA45-05F4D66EF996}"/>
              </a:ext>
            </a:extLst>
          </p:cNvPr>
          <p:cNvSpPr>
            <a:spLocks noGrp="1"/>
          </p:cNvSpPr>
          <p:nvPr>
            <p:ph idx="1"/>
          </p:nvPr>
        </p:nvSpPr>
        <p:spPr/>
        <p:txBody>
          <a:bodyPr>
            <a:normAutofit fontScale="92500" lnSpcReduction="20000"/>
          </a:bodyPr>
          <a:lstStyle/>
          <a:p>
            <a:r>
              <a:rPr lang="en-US" b="1" dirty="0"/>
              <a:t>CO1:</a:t>
            </a:r>
            <a:r>
              <a:rPr lang="en-US" dirty="0"/>
              <a:t> Searching and data management in the system (such as finding users during login and retrieving patient records) demonstrate algorithmic thinking and efficiency considerations similar to classical searching techniques.</a:t>
            </a:r>
          </a:p>
          <a:p>
            <a:r>
              <a:rPr lang="en-US" b="1" dirty="0"/>
              <a:t>CO2:</a:t>
            </a:r>
            <a:r>
              <a:rPr lang="en-US" dirty="0"/>
              <a:t> Patient records and medical files are organized using structured data collections (arrays/objects), representing the concept of Abstract Data Types for storing, inserting, deleting, and traversing data.</a:t>
            </a:r>
          </a:p>
          <a:p>
            <a:r>
              <a:rPr lang="en-US" b="1" dirty="0"/>
              <a:t>CO3:</a:t>
            </a:r>
            <a:r>
              <a:rPr lang="en-US" dirty="0"/>
              <a:t> System workflows such as managing uploaded files, activity logs, and sequential record handling reflect queue-like or stack-like processing concepts used to manage ordered data operations.</a:t>
            </a:r>
          </a:p>
          <a:p>
            <a:r>
              <a:rPr lang="en-US" b="1" dirty="0"/>
              <a:t>CO4:</a:t>
            </a:r>
            <a:r>
              <a:rPr lang="en-US" dirty="0"/>
              <a:t> Fast access and updates of user, patient, and file data using JavaScript objects and browser storage demonstrate hash-like data access and efficient data retrieval concepts similar to hash tables and map structures.</a:t>
            </a:r>
          </a:p>
          <a:p>
            <a:pPr marL="0" indent="0">
              <a:buNone/>
            </a:pPr>
            <a:endParaRPr lang="en-US" dirty="0"/>
          </a:p>
        </p:txBody>
      </p:sp>
      <p:sp>
        <p:nvSpPr>
          <p:cNvPr id="5" name="Date Placeholder 4">
            <a:extLst>
              <a:ext uri="{FF2B5EF4-FFF2-40B4-BE49-F238E27FC236}">
                <a16:creationId xmlns:a16="http://schemas.microsoft.com/office/drawing/2014/main" id="{12D1C05D-4DC9-ADC0-13CA-909E89023113}"/>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F4CC7196-73FE-144C-6DB9-248E7AB56907}"/>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194048-D768-5663-4851-89B00F981F60}"/>
              </a:ext>
            </a:extLst>
          </p:cNvPr>
          <p:cNvSpPr>
            <a:spLocks noGrp="1"/>
          </p:cNvSpPr>
          <p:nvPr>
            <p:ph type="sldNum" sz="quarter" idx="12"/>
          </p:nvPr>
        </p:nvSpPr>
        <p:spPr/>
        <p:txBody>
          <a:bodyPr/>
          <a:lstStyle/>
          <a:p>
            <a:fld id="{B961B71F-4B40-8942-BB88-E0F5C0B46E10}" type="slidenum">
              <a:rPr lang="en-US" smtClean="0"/>
              <a:t>10</a:t>
            </a:fld>
            <a:endParaRPr lang="en-US"/>
          </a:p>
        </p:txBody>
      </p:sp>
    </p:spTree>
    <p:extLst>
      <p:ext uri="{BB962C8B-B14F-4D97-AF65-F5344CB8AC3E}">
        <p14:creationId xmlns:p14="http://schemas.microsoft.com/office/powerpoint/2010/main" val="3443658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p:txBody>
          <a:bodyPr/>
          <a:lstStyle/>
          <a:p>
            <a:r>
              <a:rPr lang="en-US" dirty="0"/>
              <a:t>Screenshots for FWD </a:t>
            </a:r>
          </a:p>
        </p:txBody>
      </p:sp>
      <p:sp>
        <p:nvSpPr>
          <p:cNvPr id="3" name="Content Placeholder 2">
            <a:extLst>
              <a:ext uri="{FF2B5EF4-FFF2-40B4-BE49-F238E27FC236}">
                <a16:creationId xmlns:a16="http://schemas.microsoft.com/office/drawing/2014/main" id="{D408550D-1730-34EA-8ABA-9BB036DE20DE}"/>
              </a:ext>
            </a:extLst>
          </p:cNvPr>
          <p:cNvSpPr>
            <a:spLocks noGrp="1"/>
          </p:cNvSpPr>
          <p:nvPr>
            <p:ph idx="1"/>
          </p:nvPr>
        </p:nvSpPr>
        <p:spPr>
          <a:xfrm>
            <a:off x="838200" y="1362974"/>
            <a:ext cx="10515600" cy="4813989"/>
          </a:xfrm>
        </p:spPr>
        <p:txBody>
          <a:bodyPr>
            <a:normAutofit/>
          </a:bodyPr>
          <a:lstStyle/>
          <a:p>
            <a:pPr marL="0" marR="0" lvl="0" indent="0" algn="just">
              <a:spcBef>
                <a:spcPts val="0"/>
              </a:spcBef>
              <a:spcAft>
                <a:spcPts val="0"/>
              </a:spcAft>
              <a:buNone/>
              <a:tabLst>
                <a:tab pos="228600" algn="l"/>
                <a:tab pos="228600" algn="l"/>
                <a:tab pos="282575" algn="l"/>
                <a:tab pos="339725" algn="l"/>
              </a:tabLst>
            </a:pPr>
            <a:endParaRPr lang="en-IN" dirty="0"/>
          </a:p>
          <a:p>
            <a:pPr marL="0" marR="0" lvl="0" indent="0" algn="just">
              <a:spcBef>
                <a:spcPts val="0"/>
              </a:spcBef>
              <a:spcAft>
                <a:spcPts val="0"/>
              </a:spcAft>
              <a:buNone/>
              <a:tabLst>
                <a:tab pos="228600" algn="l"/>
                <a:tab pos="228600" algn="l"/>
                <a:tab pos="282575" algn="l"/>
                <a:tab pos="339725" algn="l"/>
              </a:tabLst>
            </a:pPr>
            <a:endParaRPr lang="en-IN" dirty="0"/>
          </a:p>
          <a:p>
            <a:pPr marR="0" lvl="0" algn="just">
              <a:spcBef>
                <a:spcPts val="0"/>
              </a:spcBef>
              <a:spcAft>
                <a:spcPts val="0"/>
              </a:spcAft>
              <a:tabLst>
                <a:tab pos="228600" algn="l"/>
                <a:tab pos="228600" algn="l"/>
                <a:tab pos="282575" algn="l"/>
                <a:tab pos="339725" algn="l"/>
              </a:tabLst>
            </a:pPr>
            <a:endParaRPr lang="en-IN" dirty="0"/>
          </a:p>
          <a:p>
            <a:pPr marR="0" lvl="0" algn="just">
              <a:spcBef>
                <a:spcPts val="0"/>
              </a:spcBef>
              <a:spcAft>
                <a:spcPts val="0"/>
              </a:spcAft>
              <a:tabLst>
                <a:tab pos="228600" algn="l"/>
                <a:tab pos="228600" algn="l"/>
                <a:tab pos="282575" algn="l"/>
                <a:tab pos="339725" algn="l"/>
              </a:tabLst>
            </a:pPr>
            <a:endParaRPr lang="en-IN" dirty="0"/>
          </a:p>
          <a:p>
            <a:pPr marL="0" marR="0" lvl="0" indent="0" algn="just">
              <a:spcBef>
                <a:spcPts val="0"/>
              </a:spcBef>
              <a:spcAft>
                <a:spcPts val="0"/>
              </a:spcAft>
              <a:buNone/>
              <a:tabLst>
                <a:tab pos="228600" algn="l"/>
                <a:tab pos="228600" algn="l"/>
                <a:tab pos="282575" algn="l"/>
                <a:tab pos="339725" algn="l"/>
              </a:tabLst>
            </a:pPr>
            <a:endParaRPr lang="en-US" dirty="0"/>
          </a:p>
        </p:txBody>
      </p:sp>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11</a:t>
            </a:fld>
            <a:endParaRPr lang="en-US"/>
          </a:p>
        </p:txBody>
      </p:sp>
      <p:pic>
        <p:nvPicPr>
          <p:cNvPr id="9" name="Picture 8">
            <a:extLst>
              <a:ext uri="{FF2B5EF4-FFF2-40B4-BE49-F238E27FC236}">
                <a16:creationId xmlns:a16="http://schemas.microsoft.com/office/drawing/2014/main" id="{2061E945-0818-72EC-3FDE-1014969FE992}"/>
              </a:ext>
            </a:extLst>
          </p:cNvPr>
          <p:cNvPicPr>
            <a:picLocks noChangeAspect="1"/>
          </p:cNvPicPr>
          <p:nvPr/>
        </p:nvPicPr>
        <p:blipFill>
          <a:blip r:embed="rId2"/>
          <a:stretch>
            <a:fillRect/>
          </a:stretch>
        </p:blipFill>
        <p:spPr>
          <a:xfrm>
            <a:off x="491231" y="1362975"/>
            <a:ext cx="3343923" cy="1872322"/>
          </a:xfrm>
          <a:prstGeom prst="rect">
            <a:avLst/>
          </a:prstGeom>
        </p:spPr>
      </p:pic>
      <p:pic>
        <p:nvPicPr>
          <p:cNvPr id="13" name="Picture 12">
            <a:extLst>
              <a:ext uri="{FF2B5EF4-FFF2-40B4-BE49-F238E27FC236}">
                <a16:creationId xmlns:a16="http://schemas.microsoft.com/office/drawing/2014/main" id="{ECC567D2-3700-48A0-566F-3BF455EC6CF0}"/>
              </a:ext>
            </a:extLst>
          </p:cNvPr>
          <p:cNvPicPr>
            <a:picLocks noChangeAspect="1"/>
          </p:cNvPicPr>
          <p:nvPr/>
        </p:nvPicPr>
        <p:blipFill>
          <a:blip r:embed="rId3"/>
          <a:stretch>
            <a:fillRect/>
          </a:stretch>
        </p:blipFill>
        <p:spPr>
          <a:xfrm>
            <a:off x="4287913" y="1362975"/>
            <a:ext cx="3568825" cy="1872322"/>
          </a:xfrm>
          <a:prstGeom prst="rect">
            <a:avLst/>
          </a:prstGeom>
        </p:spPr>
      </p:pic>
      <p:pic>
        <p:nvPicPr>
          <p:cNvPr id="15" name="Picture 14">
            <a:extLst>
              <a:ext uri="{FF2B5EF4-FFF2-40B4-BE49-F238E27FC236}">
                <a16:creationId xmlns:a16="http://schemas.microsoft.com/office/drawing/2014/main" id="{4A0FAD13-457A-A9DB-84F7-1243E437F706}"/>
              </a:ext>
            </a:extLst>
          </p:cNvPr>
          <p:cNvPicPr>
            <a:picLocks noChangeAspect="1"/>
          </p:cNvPicPr>
          <p:nvPr/>
        </p:nvPicPr>
        <p:blipFill>
          <a:blip r:embed="rId4"/>
          <a:stretch>
            <a:fillRect/>
          </a:stretch>
        </p:blipFill>
        <p:spPr>
          <a:xfrm>
            <a:off x="8309497" y="1345375"/>
            <a:ext cx="3391272" cy="1889922"/>
          </a:xfrm>
          <a:prstGeom prst="rect">
            <a:avLst/>
          </a:prstGeom>
        </p:spPr>
      </p:pic>
      <p:pic>
        <p:nvPicPr>
          <p:cNvPr id="17" name="Picture 16">
            <a:extLst>
              <a:ext uri="{FF2B5EF4-FFF2-40B4-BE49-F238E27FC236}">
                <a16:creationId xmlns:a16="http://schemas.microsoft.com/office/drawing/2014/main" id="{923765F2-C63E-8EC5-2822-ECE3379699BC}"/>
              </a:ext>
            </a:extLst>
          </p:cNvPr>
          <p:cNvPicPr>
            <a:picLocks noChangeAspect="1"/>
          </p:cNvPicPr>
          <p:nvPr/>
        </p:nvPicPr>
        <p:blipFill>
          <a:blip r:embed="rId5"/>
          <a:stretch>
            <a:fillRect/>
          </a:stretch>
        </p:blipFill>
        <p:spPr>
          <a:xfrm>
            <a:off x="505132" y="3622704"/>
            <a:ext cx="3409336" cy="1872321"/>
          </a:xfrm>
          <a:prstGeom prst="rect">
            <a:avLst/>
          </a:prstGeom>
        </p:spPr>
      </p:pic>
      <p:pic>
        <p:nvPicPr>
          <p:cNvPr id="19" name="Picture 18">
            <a:extLst>
              <a:ext uri="{FF2B5EF4-FFF2-40B4-BE49-F238E27FC236}">
                <a16:creationId xmlns:a16="http://schemas.microsoft.com/office/drawing/2014/main" id="{7AA86A58-C9E7-D66A-BEBE-E4D76F3D0F0B}"/>
              </a:ext>
            </a:extLst>
          </p:cNvPr>
          <p:cNvPicPr>
            <a:picLocks noChangeAspect="1"/>
          </p:cNvPicPr>
          <p:nvPr/>
        </p:nvPicPr>
        <p:blipFill>
          <a:blip r:embed="rId6"/>
          <a:stretch>
            <a:fillRect/>
          </a:stretch>
        </p:blipFill>
        <p:spPr>
          <a:xfrm>
            <a:off x="4287913" y="3667964"/>
            <a:ext cx="3568825" cy="1781800"/>
          </a:xfrm>
          <a:prstGeom prst="rect">
            <a:avLst/>
          </a:prstGeom>
        </p:spPr>
      </p:pic>
      <p:pic>
        <p:nvPicPr>
          <p:cNvPr id="21" name="Picture 20">
            <a:extLst>
              <a:ext uri="{FF2B5EF4-FFF2-40B4-BE49-F238E27FC236}">
                <a16:creationId xmlns:a16="http://schemas.microsoft.com/office/drawing/2014/main" id="{A308B4F9-58AC-F0AA-54BD-31C9EAF83F19}"/>
              </a:ext>
            </a:extLst>
          </p:cNvPr>
          <p:cNvPicPr>
            <a:picLocks noChangeAspect="1"/>
          </p:cNvPicPr>
          <p:nvPr/>
        </p:nvPicPr>
        <p:blipFill>
          <a:blip r:embed="rId7"/>
          <a:stretch>
            <a:fillRect/>
          </a:stretch>
        </p:blipFill>
        <p:spPr>
          <a:xfrm>
            <a:off x="8309497" y="3566216"/>
            <a:ext cx="3497649" cy="1988658"/>
          </a:xfrm>
          <a:prstGeom prst="rect">
            <a:avLst/>
          </a:prstGeom>
        </p:spPr>
      </p:pic>
    </p:spTree>
    <p:extLst>
      <p:ext uri="{BB962C8B-B14F-4D97-AF65-F5344CB8AC3E}">
        <p14:creationId xmlns:p14="http://schemas.microsoft.com/office/powerpoint/2010/main" val="34319537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180618" y="365125"/>
            <a:ext cx="10173182" cy="1128009"/>
          </a:xfrm>
        </p:spPr>
        <p:txBody>
          <a:bodyPr/>
          <a:lstStyle/>
          <a:p>
            <a:pPr algn="ctr"/>
            <a:r>
              <a:rPr lang="en-US" b="1" dirty="0"/>
              <a:t>Conclusion</a:t>
            </a:r>
          </a:p>
        </p:txBody>
      </p:sp>
      <p:sp>
        <p:nvSpPr>
          <p:cNvPr id="9" name="Content Placeholder 8">
            <a:extLst>
              <a:ext uri="{FF2B5EF4-FFF2-40B4-BE49-F238E27FC236}">
                <a16:creationId xmlns:a16="http://schemas.microsoft.com/office/drawing/2014/main" id="{956E9376-CB4B-895B-7B5C-D2F5AAED7494}"/>
              </a:ext>
            </a:extLst>
          </p:cNvPr>
          <p:cNvSpPr>
            <a:spLocks noGrp="1"/>
          </p:cNvSpPr>
          <p:nvPr>
            <p:ph idx="1"/>
          </p:nvPr>
        </p:nvSpPr>
        <p:spPr/>
        <p:txBody>
          <a:bodyPr>
            <a:normAutofit/>
          </a:bodyPr>
          <a:lstStyle/>
          <a:p>
            <a:pPr marL="0" indent="0" algn="just">
              <a:buNone/>
            </a:pPr>
            <a:r>
              <a:rPr lang="en-US" dirty="0"/>
              <a:t>The Digital Medical Record Storage System provides a simple and efficient way to store and manage patient medical records digitally. The system allows doctors to add patient details, upload medical files, and maintain organized records, while patients can easily access their medical information. By replacing traditional paper-based records with a digital platform, the system improves accessibility, reduces the risk of data loss, and enhances the efficiency of healthcare record management. Overall, the project demonstrates how web technologies can be used to build practical solutions for real-world healthcare data management.</a:t>
            </a:r>
          </a:p>
          <a:p>
            <a:pPr marL="0" indent="0" algn="just">
              <a:buNone/>
            </a:pPr>
            <a:endParaRPr lang="en-US" dirty="0"/>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2858912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a:xfrm>
            <a:off x="838200" y="365125"/>
            <a:ext cx="10515600" cy="1204883"/>
          </a:xfrm>
        </p:spPr>
        <p:txBody>
          <a:bodyPr/>
          <a:lstStyle/>
          <a:p>
            <a:r>
              <a:rPr lang="en-US" dirty="0"/>
              <a:t>Geo- Tag Photos</a:t>
            </a:r>
          </a:p>
        </p:txBody>
      </p:sp>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13</a:t>
            </a:fld>
            <a:endParaRPr lang="en-US"/>
          </a:p>
        </p:txBody>
      </p:sp>
      <p:sp>
        <p:nvSpPr>
          <p:cNvPr id="18" name="AutoShape 8">
            <a:extLst>
              <a:ext uri="{FF2B5EF4-FFF2-40B4-BE49-F238E27FC236}">
                <a16:creationId xmlns:a16="http://schemas.microsoft.com/office/drawing/2014/main" id="{BA9F7AF1-1E11-2556-3B00-0347D87A743E}"/>
              </a:ext>
            </a:extLst>
          </p:cNvPr>
          <p:cNvSpPr>
            <a:spLocks noChangeAspect="1" noChangeArrowheads="1"/>
          </p:cNvSpPr>
          <p:nvPr/>
        </p:nvSpPr>
        <p:spPr bwMode="auto">
          <a:xfrm>
            <a:off x="5943600" y="3276600"/>
            <a:ext cx="1915064"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Content Placeholder 7">
            <a:extLst>
              <a:ext uri="{FF2B5EF4-FFF2-40B4-BE49-F238E27FC236}">
                <a16:creationId xmlns:a16="http://schemas.microsoft.com/office/drawing/2014/main" id="{8F384987-2549-C5E1-6F48-92C61C050224}"/>
              </a:ext>
            </a:extLst>
          </p:cNvPr>
          <p:cNvPicPr>
            <a:picLocks noGrp="1" noChangeAspect="1"/>
          </p:cNvPicPr>
          <p:nvPr>
            <p:ph idx="1"/>
          </p:nvPr>
        </p:nvPicPr>
        <p:blipFill>
          <a:blip r:embed="rId2"/>
          <a:stretch>
            <a:fillRect/>
          </a:stretch>
        </p:blipFill>
        <p:spPr>
          <a:xfrm>
            <a:off x="1200745" y="1719093"/>
            <a:ext cx="3263503" cy="4351338"/>
          </a:xfrm>
        </p:spPr>
      </p:pic>
      <p:pic>
        <p:nvPicPr>
          <p:cNvPr id="10" name="Picture 9">
            <a:extLst>
              <a:ext uri="{FF2B5EF4-FFF2-40B4-BE49-F238E27FC236}">
                <a16:creationId xmlns:a16="http://schemas.microsoft.com/office/drawing/2014/main" id="{97459FD1-DAFF-5C89-637D-C6D5CB6EA96A}"/>
              </a:ext>
            </a:extLst>
          </p:cNvPr>
          <p:cNvPicPr>
            <a:picLocks noChangeAspect="1"/>
          </p:cNvPicPr>
          <p:nvPr/>
        </p:nvPicPr>
        <p:blipFill>
          <a:blip r:embed="rId3"/>
          <a:stretch>
            <a:fillRect/>
          </a:stretch>
        </p:blipFill>
        <p:spPr>
          <a:xfrm>
            <a:off x="5528867" y="1787510"/>
            <a:ext cx="3263504" cy="4351338"/>
          </a:xfrm>
          <a:prstGeom prst="rect">
            <a:avLst/>
          </a:prstGeom>
        </p:spPr>
      </p:pic>
    </p:spTree>
    <p:extLst>
      <p:ext uri="{BB962C8B-B14F-4D97-AF65-F5344CB8AC3E}">
        <p14:creationId xmlns:p14="http://schemas.microsoft.com/office/powerpoint/2010/main" val="23574719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14</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3954</TotalTime>
  <Words>1117</Words>
  <Application>Microsoft Office PowerPoint</Application>
  <PresentationFormat>Widescreen</PresentationFormat>
  <Paragraphs>129</Paragraphs>
  <Slides>14</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14</vt:i4>
      </vt:variant>
    </vt:vector>
  </HeadingPairs>
  <TitlesOfParts>
    <vt:vector size="20" baseType="lpstr">
      <vt:lpstr>Arial</vt:lpstr>
      <vt:lpstr>Calibri</vt:lpstr>
      <vt:lpstr>Calibri Light</vt:lpstr>
      <vt:lpstr>Times New Roman</vt:lpstr>
      <vt:lpstr>Office Theme</vt:lpstr>
      <vt:lpstr>Custom Design</vt:lpstr>
      <vt:lpstr>Title : DIGITAL MEDICAL RECORD STORAGE SYSTEM</vt:lpstr>
      <vt:lpstr>OUTLINE</vt:lpstr>
      <vt:lpstr>Abstract</vt:lpstr>
      <vt:lpstr>Existing System </vt:lpstr>
      <vt:lpstr>Proposed System</vt:lpstr>
      <vt:lpstr>System Architecture</vt:lpstr>
      <vt:lpstr>Project Modules</vt:lpstr>
      <vt:lpstr>Objectives</vt:lpstr>
      <vt:lpstr>Co’s Attainments - FWD</vt:lpstr>
      <vt:lpstr>Co’s Attainments - DSA</vt:lpstr>
      <vt:lpstr>Screenshots for FWD </vt:lpstr>
      <vt:lpstr>Conclusion</vt:lpstr>
      <vt:lpstr>Geo- Tag Photos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Shivaji Yadav</cp:lastModifiedBy>
  <cp:revision>57</cp:revision>
  <dcterms:created xsi:type="dcterms:W3CDTF">2022-05-20T10:20:31Z</dcterms:created>
  <dcterms:modified xsi:type="dcterms:W3CDTF">2026-03-10T04:54:02Z</dcterms:modified>
</cp:coreProperties>
</file>